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333" r:id="rId7"/>
    <p:sldId id="262" r:id="rId8"/>
    <p:sldId id="334" r:id="rId9"/>
    <p:sldId id="324" r:id="rId10"/>
    <p:sldId id="335" r:id="rId11"/>
    <p:sldId id="320" r:id="rId12"/>
    <p:sldId id="315" r:id="rId13"/>
    <p:sldId id="336" r:id="rId14"/>
    <p:sldId id="337" r:id="rId15"/>
    <p:sldId id="338" r:id="rId16"/>
    <p:sldId id="339" r:id="rId17"/>
    <p:sldId id="341" r:id="rId18"/>
    <p:sldId id="340" r:id="rId19"/>
    <p:sldId id="329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35360-DE68-4232-B942-DB19B4C36484}" v="11" dt="2025-08-08T18:23:37.527"/>
    <p1510:client id="{F4C4E2F3-1FF6-4F3A-8082-B1532C004E7A}" v="498" dt="2025-08-07T19:23:54.097"/>
  </p1510:revLst>
</p1510:revInfo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DF2-CBE5-9F1A-55FC-161C044D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BFFDC-A3D2-A72F-7DC3-608703A88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83A93-5304-D594-0044-3D7A4CE4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37C7B-FB4E-D797-95BE-3815778E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8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7350-1700-81E4-2391-5644631A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F0148-F656-7F2E-C6FE-39754C08D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9E78B-D67E-2851-6EEF-7AC04D241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B194-8F39-7E12-3A7B-44A881070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6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22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5F13-499E-1094-3500-FA949F9B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FE798-71A3-59A9-F05A-D0A72C132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DA6A2-4310-8BAF-49C8-A435857B5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E8ACF-EB09-87C6-2F59-5E69FC936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8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01F8-7E48-5167-7A39-A9CE414B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F7535-E006-AB9D-64ED-4A2564CC7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3014C-E849-9332-CCDD-7DE1BB97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1260E-363F-5F84-8C11-43064D11C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04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C979-3A18-8F0D-69B6-BA95BC7A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29AA8-FC71-B83F-DC72-780B54A54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06659-EC30-290B-CED6-9DE06A60D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ADFD-0041-498A-2451-41F099D5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2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1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5735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2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110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17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6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62D13F-065F-B5B5-D0E6-E5707D37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9F4739-7046-0251-2DF1-C69923064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163D0146-2A52-A1D5-4593-B4C5EB99B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B11D10C2-7B14-DAF3-6BF2-5A8F43E9DA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53E52456-41A7-AC0D-14E1-EBCA46FA0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721F5B-EC05-CF43-091F-DAF14831D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EAA2530-7335-61C7-70D6-747F737F23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D6830C5-6699-B51E-C138-387FB4326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6FF4243D-BD79-D045-8F40-6116E0C37D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E9EC195D-83CA-FFB5-8E57-01F2F88967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134E1E14-0E7D-344A-292A-0FEE2278CC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5F7EE493-E0DB-AB06-7D9D-5AF68F7F066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5EEA1730-2FFB-87EA-EAD1-B2B5783665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1E4289FE-15AE-AB80-0279-9FEC059A9B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25151662-B32C-3EAB-F6C8-76DD978D23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3C3EE828-B477-B615-CA63-8538BE486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7AC7C2E5-ABB8-BBAD-2355-D6D2362E06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6A22F749-ED2C-4875-608B-E377A5448F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4771A641-145D-E8E1-A9B2-69823A4D01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3F8F37-F2D6-CCBD-20FE-B22B8E4C18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AF3ABA6C-6FD2-67BB-2670-5BFDD170EC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E9B0D058-B8D1-9353-2199-A74B70392D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3A1A6A6-A997-36FF-9BD6-128BD48F10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1DB2A818-4899-91F3-6E29-A6B44792B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06FA050E-E57A-A008-4AFC-E0A7BF4BD9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1AA4FDAD-E69F-B8CA-3647-41EE49D189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FA9079B0-05A2-05C9-0B71-62DA834290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B1A01482-3AC9-3B96-29F0-77E1F45A2B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18BBAE1C-A0BE-C2D0-0B21-EF53F120FE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6699894E-9D4E-38B1-7E0F-FD7E8DD87CA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7686F1-1A2D-7362-06B5-FFFD3ACB4F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61B3E07-B72D-1FE2-EDEA-17E925D72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FA77FC-64D9-DE58-A28A-66AD9C2B326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FF768D7-8614-439F-50A9-59D5140555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374D642E-1A3B-7563-4C4C-A8886D59033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BFF8C2B2-E490-A9EE-3883-FA9C8EE2469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4EBDBA2-C991-DB59-8E58-B4D12A257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C77A19F7-390A-587C-0735-A199D3DB0C8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4CC8F53-BFF6-5AA8-554D-A3AFC16E10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07FE88-BFE7-3491-C4ED-84BCC713C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E59AEE7-2E00-DD8E-4A64-624BBBF218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4BB12628-726F-E89A-FBAF-334733B975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2BE7A39-1897-9A9A-F597-9D75FE4A851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7C6C0069-A065-BA31-6BD7-D5AA4499F6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3CD5D7-6B2F-E9B2-9A97-ADB1AB30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CB8559C-9482-7A04-AFCA-0EE0336DB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8E5CDD-04A4-0F7F-051B-44C6F6B7F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423FA6BC-48D6-1095-2002-196438F1D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22D39D72-6C9D-0B9E-8A6B-E7C2286B9C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7683F3FD-E227-C358-C0FD-2FFA3C28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EC33943E-7F7F-3DD7-3721-BA4866CC6B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E45C6B72-DCCD-6EB6-132D-0FA67819D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168015B7-C961-378D-2DC6-DC765AF0CB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DF769C9F-2362-9FBD-939F-ABDB7CBB1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25755D6-AD5C-914E-7A62-145DBD64A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DFDDF6F8-12EA-25EC-8FC5-8A21B11F38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EBD7A53C-B52C-8CA2-F5BA-686A373E4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7CA0655A-0AF5-EEE3-ABB0-20D1BED0BD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4FD9506A-2D60-7B40-6CF8-F96EE89F92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AB7F3BA7-1A8F-076B-B5E3-818D3298FB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70B6BB27-AE08-DCF4-FC6C-B0AA459929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8BE40A7-E371-08CD-A28A-03F591E0F5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69E67CF8-C6BE-AFC8-E935-47A9B66A1D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9066B5CD-8B07-C124-814E-E0FCC34219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15BDA307-0487-F6F8-9712-E7E849479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FB2D68D3-0B6E-1782-F250-F235EBF134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0044EBAD-2D73-148B-C869-00D38A213E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BEA5DF87-0DFD-2540-F7AB-0E6ACB1E327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916F5E3C-9C75-F588-DE04-69C972C186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8DF4F6-2A73-D808-991D-95439C173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7A2833E-2ADD-3B71-08FC-6283A81A80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FCDF8FCA-19BF-CFB5-0CCB-3EF2D7CB0A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F73B0C2F-F151-71AB-9ABE-1959C358EA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A44D14B4-5764-EFCE-FBC7-CF2D0B277A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E3756F0B-F8B3-26EE-2A7F-1C5992122CA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1E4DCDD-63E6-2079-6168-1020560A9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14E1C2-75D7-754B-9F26-F5B9066EFF5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1804AAA-0E5C-F089-12DB-DA756DBC8F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2EE8038-D703-128B-70AB-CE6021260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89B8075-A4EE-CE03-6C76-DC97CFABA0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E9606914-44A7-93DD-5097-AC11FE653E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AA850AAF-4BA2-57DD-6C9D-C9991F2F2F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66085E16-1D45-53C3-E48D-B7202C213A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4215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6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45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98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87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72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38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371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>
                <a:cs typeface="Calibri"/>
              </a:rPr>
              <a:t>Click to add subtitle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568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4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1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23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add picture</a:t>
            </a:r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61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400020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0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11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50213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672" r:id="rId2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2" y="2436602"/>
            <a:ext cx="4650901" cy="986058"/>
          </a:xfrm>
        </p:spPr>
        <p:txBody>
          <a:bodyPr>
            <a:noAutofit/>
          </a:bodyPr>
          <a:lstStyle/>
          <a:p>
            <a:r>
              <a:rPr lang="en-US" dirty="0"/>
              <a:t>Finova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B4570-518A-4690-A875-2E0C434CE552}"/>
              </a:ext>
            </a:extLst>
          </p:cNvPr>
          <p:cNvSpPr txBox="1"/>
          <p:nvPr/>
        </p:nvSpPr>
        <p:spPr>
          <a:xfrm>
            <a:off x="725009" y="3694981"/>
            <a:ext cx="46518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A personal </a:t>
            </a:r>
            <a:r>
              <a:rPr lang="en-US" sz="2400" b="1"/>
              <a:t>Finance</a:t>
            </a:r>
            <a:r>
              <a:rPr lang="en-US" sz="2400" b="1" dirty="0"/>
              <a:t> </a:t>
            </a:r>
            <a:r>
              <a:rPr lang="en-US" sz="2400" b="1"/>
              <a:t>Management App</a:t>
            </a:r>
            <a:r>
              <a:rPr lang="en-US" sz="2400"/>
              <a:t> that helps </a:t>
            </a:r>
            <a:r>
              <a:rPr lang="en-US" sz="2400" dirty="0"/>
              <a:t>you grow.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Team</a:t>
            </a:r>
          </a:p>
        </p:txBody>
      </p:sp>
      <p:pic>
        <p:nvPicPr>
          <p:cNvPr id="18" name="Picture Placeholder 17" descr="A person wearing a knit hat&#10;&#10;Description automatically generated">
            <a:extLst>
              <a:ext uri="{FF2B5EF4-FFF2-40B4-BE49-F238E27FC236}">
                <a16:creationId xmlns:a16="http://schemas.microsoft.com/office/drawing/2014/main" id="{EA3B7AFC-AAF1-6309-E87A-F630716B8D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937876" y="1202609"/>
            <a:ext cx="4463827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Akhlak</a:t>
            </a:r>
            <a:r>
              <a:rPr lang="en-US" dirty="0"/>
              <a:t> Hossain Jim</a:t>
            </a:r>
          </a:p>
          <a:p>
            <a:pPr>
              <a:lnSpc>
                <a:spcPct val="100000"/>
              </a:lnSpc>
            </a:pPr>
            <a:r>
              <a:rPr lang="en-US" dirty="0"/>
              <a:t>2022-3-60-057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Department of CSE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02368-8C22-1B91-380F-E0C19886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2ED6F51-CF6E-B561-4765-DA463F50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8B8C7-A59E-E80B-77EA-2F63FFF6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Instructor</a:t>
            </a:r>
            <a:endParaRPr lang="en-US" dirty="0">
              <a:ea typeface="+mj-ea"/>
              <a:cs typeface="+mj-cs"/>
            </a:endParaRPr>
          </a:p>
        </p:txBody>
      </p:sp>
      <p:pic>
        <p:nvPicPr>
          <p:cNvPr id="18" name="Picture Placeholder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ACFF863-F19E-9561-7D85-5E0694B34C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1433857" y="1202609"/>
            <a:ext cx="3471865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EF9693-00CF-A69C-2652-DD5129242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9CCA-1875-2EEF-AE38-C1BCA3CFE1B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Dr. Shamim H Ripon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Professor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Department of CSE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707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6575"/>
            <a:ext cx="389255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23555-9837-466D-9123-97B89F6CA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60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FAB13B-4F20-3FE1-0481-584D437298EB}"/>
              </a:ext>
            </a:extLst>
          </p:cNvPr>
          <p:cNvSpPr txBox="1"/>
          <p:nvPr/>
        </p:nvSpPr>
        <p:spPr>
          <a:xfrm>
            <a:off x="990000" y="2877018"/>
            <a:ext cx="2970000" cy="290148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Introduction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Planning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Features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Requirements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Tools and Technologies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Workplace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Conclusion</a:t>
            </a:r>
          </a:p>
        </p:txBody>
      </p:sp>
      <p:pic>
        <p:nvPicPr>
          <p:cNvPr id="9" name="Picture 8" descr="Construction tools and gears">
            <a:extLst>
              <a:ext uri="{FF2B5EF4-FFF2-40B4-BE49-F238E27FC236}">
                <a16:creationId xmlns:a16="http://schemas.microsoft.com/office/drawing/2014/main" id="{4CFFBDE5-46F5-DBA9-0C48-F90DA343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30" r="4997" b="8"/>
          <a:stretch>
            <a:fillRect/>
          </a:stretch>
        </p:blipFill>
        <p:spPr>
          <a:xfrm>
            <a:off x="4979987" y="10"/>
            <a:ext cx="72120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3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7DA18-7580-8AF3-475F-0E70B65E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1089025"/>
            <a:ext cx="7797799" cy="15329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Introduction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9F7A1D-1090-4288-AA92-5E103402E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2840038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52CE0A-5FEB-41F7-AC08-13F9CCDA5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731CECC-3215-4BBB-9435-8EE683B8E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6" name="Freeform 68">
                  <a:extLst>
                    <a:ext uri="{FF2B5EF4-FFF2-40B4-BE49-F238E27FC236}">
                      <a16:creationId xmlns:a16="http://schemas.microsoft.com/office/drawing/2014/main" id="{55668BB4-A5B1-47EB-B913-25AE6AB036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94A22C99-8239-43D4-81DE-86F79FF1D7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8103C5B8-06AC-40D5-B70E-00FC0783A9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E3881FC-25BE-49F9-8318-512ECDA4F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3" name="Freeform 68">
                  <a:extLst>
                    <a:ext uri="{FF2B5EF4-FFF2-40B4-BE49-F238E27FC236}">
                      <a16:creationId xmlns:a16="http://schemas.microsoft.com/office/drawing/2014/main" id="{5A832B89-863F-48D0-A912-B1414A2544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69">
                  <a:extLst>
                    <a:ext uri="{FF2B5EF4-FFF2-40B4-BE49-F238E27FC236}">
                      <a16:creationId xmlns:a16="http://schemas.microsoft.com/office/drawing/2014/main" id="{0BF5E77C-56C6-472D-B6A0-56C2E3D51B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8A3B85A2-B137-458E-B4D6-9141EA2D52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39017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Project Focus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1EFE3-CBF1-89A5-D877-36F8CD6D2141}"/>
              </a:ext>
            </a:extLst>
          </p:cNvPr>
          <p:cNvSpPr txBox="1"/>
          <p:nvPr/>
        </p:nvSpPr>
        <p:spPr>
          <a:xfrm>
            <a:off x="1158815" y="2977551"/>
            <a:ext cx="86091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Development of Finova, a culturally-aware personal finance mobile app that empowers individuals and families to manage expenses, income, savings goals, and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413892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9311B-11FF-AE4B-8B12-9A6337D1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0B1C97-5071-4E8F-5554-22822FB0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Importance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E8D8A-2A44-68F0-C83F-9747D2A63299}"/>
              </a:ext>
            </a:extLst>
          </p:cNvPr>
          <p:cNvSpPr txBox="1"/>
          <p:nvPr/>
        </p:nvSpPr>
        <p:spPr>
          <a:xfrm>
            <a:off x="1158815" y="2977551"/>
            <a:ext cx="86091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+mn-lt"/>
                <a:cs typeface="+mn-lt"/>
              </a:rPr>
              <a:t>Addresses gaps in existing apps by integrating cultural spending patterns and family financial management, promoting financial literacy and wellness.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072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Planning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your Personal Finance.</a:t>
            </a:r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7F9A0-D364-C129-711E-DB39F65E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Features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138C2-D767-D704-B348-0031C32F3491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Multi-category Expense Tracking </a:t>
            </a:r>
            <a:r>
              <a:rPr lang="en-US" sz="2000" spc="50">
                <a:solidFill>
                  <a:schemeClr val="tx1">
                    <a:alpha val="60000"/>
                  </a:schemeClr>
                </a:solidFill>
              </a:rPr>
              <a:t>(</a:t>
            </a: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15+ categories including cultural expenses)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Shopping list integration linked to expenses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Income Management across multiple sources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Family finance support functionality</a:t>
            </a:r>
            <a:endParaRPr lang="en-US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Analytics dashboard with visualizations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</a:rPr>
              <a:t>Savings goal and habit tracking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Budget management with alerts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8EE24C-0DEE-4852-98D1-766934BD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6CBEAFE-2CF0-4684-B451-EB4CC26C1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829D087-6E8C-49B4-8B14-A7322D6C9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6AD7EE-911D-452D-BB96-558319A67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EFB3432A-F33E-4636-93EA-39E5DE75C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201E85ED-EC70-4C1F-ADA1-385AFA3DBC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96CFCCC-96DF-4A61-9E5D-558B1B94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C78AD6F-09CE-4B30-BD5B-385DC487EF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CE9B157-EB63-48A0-9199-65F4594C1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3865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912D0-A5D0-9284-E7F3-F877C410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D4B29-021D-87F5-2F8D-742CE37C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060E2-3657-E1EA-F55B-A36ABC4C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Requirements</a:t>
            </a:r>
            <a:endParaRPr lang="en-US" dirty="0" err="1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EAAC8-4D3D-39E6-1B78-E4C9A2E6343E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Functional: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User authentication, expense/income tracking, habit formation, alerts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Non-Functional: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Performance on mid-range devices, offline functionality, security compliance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Technical: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React Native with Expo, </a:t>
            </a:r>
            <a:r>
              <a:rPr lang="en-US" sz="2000" spc="50" dirty="0" err="1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Supabase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backend, TypeScript, React Native Paper UI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Business: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Self-funded development, cultural sensitivity, Play Store policies compliance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CFFB17-6488-262B-491D-F117B779A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3460210-22E8-F739-A7EA-1DF8F7846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A910B0C-3C79-9460-8BEA-AC515A66E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CB9C7AA-9859-EBFF-83EB-775CE34FF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207C869F-3C03-C739-BE11-4C9F0809A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FE068990-FA48-BB7D-6A1C-B9771EEB1F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A839273-0C23-DB33-4345-782426269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0A63A55-D538-B70F-A2A1-587DE2442B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EFE4BFF-4CE8-4A59-A304-823C681E94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0651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5B478-D1A0-F94C-1254-D042B177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9DB65B-A43F-C0AB-D635-B6D26303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67F0A-335F-EF23-AF64-ED2EC01A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Tools and Technologies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4773F-425E-00A6-4711-1570094689F9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Development IDE: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VS Code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Framework: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React Native (Expo)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Backend: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spc="50" dirty="0" err="1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Supabase</a:t>
            </a: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UI Library: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React Native Paper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Version Control: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GitHub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Design: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Figma for UI/UX mockups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CFBA9-A614-4931-5B87-EF5D4B988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CD70EB-61BF-479A-FEA7-DA0EBA2C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0AD62C-0DA9-2BB6-5922-DB1E51B7F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ECDE99-4C0D-68A0-0A8A-980CFC80E3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17C1CEB0-BA96-6C88-1F16-123742E4A8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4E63CAC7-9359-9F40-6525-95134EE55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0040D5-8B31-4A2B-A1DB-D27D340B9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14EBE82-6C3F-2992-7584-736777535A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765373A-8278-A91B-12A8-A7BC97B85B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7008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09CC9-BED5-F30C-AE0E-2445F18E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BEDE6A-5FA5-9A9C-6F1D-372583832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C8F2C-982F-6DF4-6256-E90CC15C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Workplace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F2736-52C1-671E-C5F4-D61E2EEA0546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Solo development with potential community support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Version-controlled collaborative environment via GitHub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Use of online forums and communities for problem-solving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Testing on physical Android devices and emulators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DDABD6-D787-1216-0082-051447087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CE8633-85AE-A5F8-B49D-F227D7B6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1370945-8A79-FB8A-3097-EBE5B2F04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9EFDDF4-16BA-259E-D244-C88A2D660E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9FA898F5-1A88-A72C-6D4E-C37CC560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A8BFBC89-9661-40F8-C8C2-3434DAF9AF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D6E9FB-95B5-0EB0-27D2-DC506628C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158591E-95ED-7765-0839-2A1BA44E1F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5E24C86-8E8A-3B11-AA3B-86E2EA761C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971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BFD057-474D-DB9B-B798-02152B88EE0A}"/>
              </a:ext>
            </a:extLst>
          </p:cNvPr>
          <p:cNvSpPr txBox="1"/>
          <p:nvPr/>
        </p:nvSpPr>
        <p:spPr>
          <a:xfrm>
            <a:off x="1331343" y="569343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latin typeface="Goudy Old Style"/>
              </a:rPr>
              <a:t>CPM Diagram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738DBA-30A3-A6FB-2295-A9B7BB6C6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028058"/>
              </p:ext>
            </p:extLst>
          </p:nvPr>
        </p:nvGraphicFramePr>
        <p:xfrm>
          <a:off x="1168893" y="2419165"/>
          <a:ext cx="9865172" cy="333755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436188">
                  <a:extLst>
                    <a:ext uri="{9D8B030D-6E8A-4147-A177-3AD203B41FA5}">
                      <a16:colId xmlns:a16="http://schemas.microsoft.com/office/drawing/2014/main" val="2628111264"/>
                    </a:ext>
                  </a:extLst>
                </a:gridCol>
                <a:gridCol w="2113471">
                  <a:extLst>
                    <a:ext uri="{9D8B030D-6E8A-4147-A177-3AD203B41FA5}">
                      <a16:colId xmlns:a16="http://schemas.microsoft.com/office/drawing/2014/main" val="4180631639"/>
                    </a:ext>
                  </a:extLst>
                </a:gridCol>
                <a:gridCol w="2372264">
                  <a:extLst>
                    <a:ext uri="{9D8B030D-6E8A-4147-A177-3AD203B41FA5}">
                      <a16:colId xmlns:a16="http://schemas.microsoft.com/office/drawing/2014/main" val="287178456"/>
                    </a:ext>
                  </a:extLst>
                </a:gridCol>
                <a:gridCol w="1943249">
                  <a:extLst>
                    <a:ext uri="{9D8B030D-6E8A-4147-A177-3AD203B41FA5}">
                      <a16:colId xmlns:a16="http://schemas.microsoft.com/office/drawing/2014/main" val="3581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Sudo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Predecessor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067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SDE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822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Core UI/Frontend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59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Core Navigation Structure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Core 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10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Frontend Backend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C,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7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Alpha Build &amp; Upload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48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Avenir Next LT Pro"/>
                        </a:rPr>
                        <a:t>Fix Bugs &amp; Beta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12686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/>
                        <a:t>Final Fixes &amp; Stable 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906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9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FEFD-14A4-8B2F-EF78-C9FACE78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876D6E-8E8D-FDAC-D155-0DDE4E186C60}"/>
              </a:ext>
            </a:extLst>
          </p:cNvPr>
          <p:cNvSpPr txBox="1"/>
          <p:nvPr/>
        </p:nvSpPr>
        <p:spPr>
          <a:xfrm>
            <a:off x="684362" y="598098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latin typeface="Goudy Old Style"/>
              </a:rPr>
              <a:t>CPM Diagram with Critical Path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44730D37-9282-60ED-E21F-B451E647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7324"/>
            <a:ext cx="121920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4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0D88-32F3-8650-15BE-A182B2FF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C64E3C3C-A0BE-24DB-9070-BB265E7CC0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02" r="-59" b="1225"/>
          <a:stretch>
            <a:fillRect/>
          </a:stretch>
        </p:blipFill>
        <p:spPr>
          <a:xfrm>
            <a:off x="0" y="1417720"/>
            <a:ext cx="12199193" cy="54738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54914F-B894-6C02-34A9-E5F1859E94B0}"/>
              </a:ext>
            </a:extLst>
          </p:cNvPr>
          <p:cNvSpPr txBox="1"/>
          <p:nvPr/>
        </p:nvSpPr>
        <p:spPr>
          <a:xfrm>
            <a:off x="684362" y="555765"/>
            <a:ext cx="952931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latin typeface="Goudy Old Style"/>
              </a:rPr>
              <a:t>Use Case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224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408" y="4594884"/>
            <a:ext cx="6255903" cy="88343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41585" y="826787"/>
            <a:ext cx="7659688" cy="33501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AutoNum type="arabicPeriod"/>
            </a:pPr>
            <a:r>
              <a:rPr lang="en-US">
                <a:ea typeface="+mn-lt"/>
                <a:cs typeface="+mn-lt"/>
              </a:rPr>
              <a:t>Detailed project planning and requirement gathering ensure the development of a reliable, culturally-sensitive finance management app.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Emphasis on risk management, quality assurance, and user-centered design supports timely delivery and high user satisfaction.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Finova aims to empower users in diverse cultural contexts to build healthier financial habits and achieve financial wellness.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30067" y="3219450"/>
            <a:ext cx="4128934" cy="12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 would love to answer any Questions.</a:t>
            </a:r>
            <a:endParaRPr lang="en-US" sz="2400">
              <a:solidFill>
                <a:srgbClr val="000000">
                  <a:alpha val="60000"/>
                </a:srgb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FB0B9-08B2-DC32-E3E3-FF62F9DBB387}"/>
              </a:ext>
            </a:extLst>
          </p:cNvPr>
          <p:cNvGrpSpPr/>
          <p:nvPr/>
        </p:nvGrpSpPr>
        <p:grpSpPr>
          <a:xfrm>
            <a:off x="7636389" y="5382011"/>
            <a:ext cx="3958724" cy="986308"/>
            <a:chOff x="7636389" y="5870841"/>
            <a:chExt cx="3958724" cy="986308"/>
          </a:xfrm>
        </p:grpSpPr>
        <p:pic>
          <p:nvPicPr>
            <p:cNvPr id="4" name="Picture 3" descr="Green letters on a black background&#10;&#10;Description automatically generated">
              <a:extLst>
                <a:ext uri="{FF2B5EF4-FFF2-40B4-BE49-F238E27FC236}">
                  <a16:creationId xmlns:a16="http://schemas.microsoft.com/office/drawing/2014/main" id="{497F471D-16CB-53D5-52A8-A6A83CF08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6389" y="5870841"/>
              <a:ext cx="2041586" cy="98630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2BAEF0B-A84C-B429-2CA8-D8FB5B05F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34207" y="6001108"/>
              <a:ext cx="660906" cy="707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986C09-F420-40AE-93AA-C368DCF73FE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32DBBDF-0415-4F4A-A72F-EB449088BF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E267E2-D0C1-458E-BA40-3B641CF83E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FrostyVTI</Template>
  <Application>Microsoft Office PowerPoint</Application>
  <PresentationFormat>Widescreen</PresentationFormat>
  <Slides>17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FrostyVTI</vt:lpstr>
      <vt:lpstr>Finova</vt:lpstr>
      <vt:lpstr>The Team</vt:lpstr>
      <vt:lpstr>Instructor</vt:lpstr>
      <vt:lpstr>Table of Contents</vt:lpstr>
      <vt:lpstr>Introduction</vt:lpstr>
      <vt:lpstr>Project Focus</vt:lpstr>
      <vt:lpstr>Importance</vt:lpstr>
      <vt:lpstr>Planning</vt:lpstr>
      <vt:lpstr>Features</vt:lpstr>
      <vt:lpstr>Requirements</vt:lpstr>
      <vt:lpstr>Tools and Technologies</vt:lpstr>
      <vt:lpstr>Workplace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/>
  <cp:revision>292</cp:revision>
  <dcterms:created xsi:type="dcterms:W3CDTF">2024-05-29T13:44:45Z</dcterms:created>
  <dcterms:modified xsi:type="dcterms:W3CDTF">2025-08-08T18:24:35Z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