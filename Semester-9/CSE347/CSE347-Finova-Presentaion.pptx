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333" r:id="rId7"/>
    <p:sldId id="262" r:id="rId8"/>
    <p:sldId id="334" r:id="rId9"/>
    <p:sldId id="324" r:id="rId10"/>
    <p:sldId id="320" r:id="rId11"/>
    <p:sldId id="342" r:id="rId12"/>
    <p:sldId id="346" r:id="rId13"/>
    <p:sldId id="341" r:id="rId14"/>
    <p:sldId id="343" r:id="rId15"/>
    <p:sldId id="347" r:id="rId16"/>
    <p:sldId id="344" r:id="rId17"/>
    <p:sldId id="345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29" r:id="rId26"/>
    <p:sldId id="268" r:id="rId27"/>
    <p:sldId id="355" r:id="rId28"/>
    <p:sldId id="356" r:id="rId29"/>
    <p:sldId id="3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963303-4793-445A-9D55-E43BE29F9970}" v="870" dt="2025-08-30T20:02:03.046"/>
    <p1510:client id="{B7BC08B2-1BBF-4D3D-92E2-6E07C590F310}" v="73" dt="2025-08-30T20:20:39.776"/>
    <p1510:client id="{BB38FB6A-FA2A-4368-81E4-09A68FAA1230}" v="341" dt="2025-08-30T19:24:50.532"/>
    <p1510:client id="{F3D7B51B-5E67-3ED7-83A7-8EDC8E85C36F}" v="27" dt="2025-08-30T17:55:20.370"/>
  </p1510:revLst>
</p1510:revInfo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DF2-CBE5-9F1A-55FC-161C044D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BFFDC-A3D2-A72F-7DC3-608703A88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83A93-5304-D594-0044-3D7A4CE4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7C7B-FB4E-D797-95BE-3815778E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8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086E-75B3-CE27-2F3F-4A654616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89323-7D39-99B2-344C-D6B81D740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039F2-7226-693E-6565-2F0A14527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17E37-94B4-F561-F823-4925CD191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53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FA51-D64B-D194-1A80-3D188291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F5CD5-8DDC-48D3-7FEE-E6145C287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625A0-6F8D-0CFD-B445-F53BC577B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12F46-B298-8277-5D7C-2F5BDF22F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68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E0C2-D6F3-88D3-EFF1-A1184628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5139B-1E45-35EE-87C8-6C95CEF7B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02EBB-39FB-0889-8C4B-0DB778A0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4DB61-46DC-75D3-CAE8-7F7A223E1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97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919B-28C4-CA5B-3D01-EC4F291D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1859E-AA13-09B8-42EF-2ACDAA6EE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22B6F-11E9-4378-1413-66EBF59D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38CE0-0C5C-B877-BC62-C14A2445E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09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59BC-519A-0397-2CF8-9CD2A6EA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E9028-E3A9-D144-34BF-627369799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B1106-7B7C-875A-EBEF-FBCAFF0DD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F29BB-FA26-BEAE-FCC8-0BB44FB72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67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1896-45E3-64FA-E597-4FAF7AE0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D25BF-366B-F7B3-038C-8BCF0D7D8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7917B-A22B-981C-B998-85989E49B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92578-0EA4-4252-2A34-48A7EBBF3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03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11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73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11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17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4215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6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45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8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87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38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71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>
                <a:cs typeface="Calibri"/>
              </a:rPr>
              <a:t>Click to add subtitle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568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23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add picture</a:t>
            </a:r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61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400020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0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11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50213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672" r:id="rId2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2" y="2436602"/>
            <a:ext cx="4650901" cy="986058"/>
          </a:xfrm>
        </p:spPr>
        <p:txBody>
          <a:bodyPr>
            <a:noAutofit/>
          </a:bodyPr>
          <a:lstStyle/>
          <a:p>
            <a:r>
              <a:rPr lang="en-US"/>
              <a:t>Finova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B4570-518A-4690-A875-2E0C434CE552}"/>
              </a:ext>
            </a:extLst>
          </p:cNvPr>
          <p:cNvSpPr txBox="1"/>
          <p:nvPr/>
        </p:nvSpPr>
        <p:spPr>
          <a:xfrm>
            <a:off x="725009" y="3694981"/>
            <a:ext cx="46518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A personal </a:t>
            </a:r>
            <a:r>
              <a:rPr lang="en-US" sz="2400" b="1"/>
              <a:t>Finance Management App</a:t>
            </a:r>
            <a:r>
              <a:rPr lang="en-US" sz="2400"/>
              <a:t> that helps you grow.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Team</a:t>
            </a:r>
          </a:p>
        </p:txBody>
      </p:sp>
      <p:pic>
        <p:nvPicPr>
          <p:cNvPr id="18" name="Picture Placeholder 17" descr="A person wearing a knit hat&#10;&#10;Description automatically generated">
            <a:extLst>
              <a:ext uri="{FF2B5EF4-FFF2-40B4-BE49-F238E27FC236}">
                <a16:creationId xmlns:a16="http://schemas.microsoft.com/office/drawing/2014/main" id="{EA3B7AFC-AAF1-6309-E87A-F630716B8D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937876" y="1202609"/>
            <a:ext cx="4463827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err="1"/>
              <a:t>Akhlak</a:t>
            </a:r>
            <a:r>
              <a:rPr lang="en-US"/>
              <a:t> Hossain Jim</a:t>
            </a:r>
          </a:p>
          <a:p>
            <a:pPr>
              <a:lnSpc>
                <a:spcPct val="100000"/>
              </a:lnSpc>
            </a:pPr>
            <a:r>
              <a:rPr lang="en-US"/>
              <a:t>2022-3-60-057</a:t>
            </a:r>
            <a:endParaRPr lang="en-US">
              <a:solidFill>
                <a:srgbClr val="000000">
                  <a:alpha val="60000"/>
                </a:srgbClr>
              </a:solidFill>
            </a:endParaRPr>
          </a:p>
          <a:p>
            <a:pPr>
              <a:lnSpc>
                <a:spcPct val="100000"/>
              </a:lnSpc>
            </a:pPr>
            <a:r>
              <a:rPr lang="en-US"/>
              <a:t>Department of CSE</a:t>
            </a:r>
            <a:endParaRPr lang="en-US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02368-8C22-1B91-380F-E0C19886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ED6F51-CF6E-B561-4765-DA463F50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8B8C7-A59E-E80B-77EA-2F63FFF6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Instructor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18" name="Picture Placeholder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ACFF863-F19E-9561-7D85-5E0694B34C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1433857" y="1202609"/>
            <a:ext cx="3471865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EF9693-00CF-A69C-2652-DD5129242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9CCA-1875-2EEF-AE38-C1BCA3CFE1B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Dr. Shamim H Ripon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Professor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/>
              <a:t>Department of CSE</a:t>
            </a:r>
            <a:endParaRPr lang="en-US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70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6575"/>
            <a:ext cx="389255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3555-9837-466D-9123-97B89F6CA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60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FAB13B-4F20-3FE1-0481-584D437298EB}"/>
              </a:ext>
            </a:extLst>
          </p:cNvPr>
          <p:cNvSpPr txBox="1"/>
          <p:nvPr/>
        </p:nvSpPr>
        <p:spPr>
          <a:xfrm>
            <a:off x="990000" y="2877018"/>
            <a:ext cx="3576640" cy="35451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Project Features/Functionalities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Lab Works Overview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Assignment Overview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Case Study Overview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Project Demonstration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Conclusion</a:t>
            </a:r>
            <a:endParaRPr lang="en-US" sz="160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6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Project Screenshots (Appendix)</a:t>
            </a:r>
            <a:endParaRPr lang="en-US" sz="160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9" name="Picture 8" descr="Construction tools and gears">
            <a:extLst>
              <a:ext uri="{FF2B5EF4-FFF2-40B4-BE49-F238E27FC236}">
                <a16:creationId xmlns:a16="http://schemas.microsoft.com/office/drawing/2014/main" id="{4CFFBDE5-46F5-DBA9-0C48-F90DA343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30" r="4997" b="8"/>
          <a:stretch>
            <a:fillRect/>
          </a:stretch>
        </p:blipFill>
        <p:spPr>
          <a:xfrm>
            <a:off x="4979987" y="10"/>
            <a:ext cx="72120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7DA18-7580-8AF3-475F-0E70B65E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089025"/>
            <a:ext cx="7797799" cy="1532951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Project Features/Functionalities</a:t>
            </a:r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9F7A1D-1090-4288-AA92-5E103402E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52CE0A-5FEB-41F7-AC08-13F9CCDA5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731CECC-3215-4BBB-9435-8EE683B8E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6" name="Freeform 68">
                  <a:extLst>
                    <a:ext uri="{FF2B5EF4-FFF2-40B4-BE49-F238E27FC236}">
                      <a16:creationId xmlns:a16="http://schemas.microsoft.com/office/drawing/2014/main" id="{55668BB4-A5B1-47EB-B913-25AE6AB036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94A22C99-8239-43D4-81DE-86F79FF1D7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8103C5B8-06AC-40D5-B70E-00FC0783A9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E3881FC-25BE-49F9-8318-512ECDA4F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5A832B89-863F-48D0-A912-B1414A2544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0BF5E77C-56C6-472D-B6A0-56C2E3D5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8A3B85A2-B137-458E-B4D6-9141EA2D52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9017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Core Features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1EFE3-CBF1-89A5-D877-36F8CD6D2141}"/>
              </a:ext>
            </a:extLst>
          </p:cNvPr>
          <p:cNvSpPr txBox="1"/>
          <p:nvPr/>
        </p:nvSpPr>
        <p:spPr>
          <a:xfrm>
            <a:off x="1518649" y="2173217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/>
              <a:t>Supports Multi-currency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99546-B55A-E45D-AF64-E56F464B1894}"/>
              </a:ext>
            </a:extLst>
          </p:cNvPr>
          <p:cNvSpPr txBox="1"/>
          <p:nvPr/>
        </p:nvSpPr>
        <p:spPr>
          <a:xfrm>
            <a:off x="1522882" y="2928868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Income Management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266FA-A225-AA42-9B27-70AC31FFEEFB}"/>
              </a:ext>
            </a:extLst>
          </p:cNvPr>
          <p:cNvSpPr txBox="1"/>
          <p:nvPr/>
        </p:nvSpPr>
        <p:spPr>
          <a:xfrm>
            <a:off x="1527115" y="3673934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Shopping List Integration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C8376-F1C9-BC5B-9001-8F0F27585588}"/>
              </a:ext>
            </a:extLst>
          </p:cNvPr>
          <p:cNvSpPr txBox="1"/>
          <p:nvPr/>
        </p:nvSpPr>
        <p:spPr>
          <a:xfrm>
            <a:off x="1520766" y="4419001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Analytics Dashboard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66766-0C71-1780-11AD-7DEE0FA52F73}"/>
              </a:ext>
            </a:extLst>
          </p:cNvPr>
          <p:cNvSpPr txBox="1"/>
          <p:nvPr/>
        </p:nvSpPr>
        <p:spPr>
          <a:xfrm>
            <a:off x="1524998" y="5089985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Cultural Finance Modules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2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4" grpId="0"/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LAB WORKS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FD2E-9343-E952-D9EF-8B28BDE9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0564A-BFA6-1289-534E-3E7474D9FE8F}"/>
              </a:ext>
            </a:extLst>
          </p:cNvPr>
          <p:cNvSpPr txBox="1"/>
          <p:nvPr/>
        </p:nvSpPr>
        <p:spPr>
          <a:xfrm>
            <a:off x="1331343" y="3018100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>
                <a:latin typeface="Goudy Old Style"/>
              </a:rPr>
              <a:t>CPM Diagram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E85DE-3C2A-1644-556C-B547C4C48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307296"/>
              </p:ext>
            </p:extLst>
          </p:nvPr>
        </p:nvGraphicFramePr>
        <p:xfrm>
          <a:off x="12192000" y="6858000"/>
          <a:ext cx="9865172" cy="333755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36188">
                  <a:extLst>
                    <a:ext uri="{9D8B030D-6E8A-4147-A177-3AD203B41FA5}">
                      <a16:colId xmlns:a16="http://schemas.microsoft.com/office/drawing/2014/main" val="2628111264"/>
                    </a:ext>
                  </a:extLst>
                </a:gridCol>
                <a:gridCol w="2113471">
                  <a:extLst>
                    <a:ext uri="{9D8B030D-6E8A-4147-A177-3AD203B41FA5}">
                      <a16:colId xmlns:a16="http://schemas.microsoft.com/office/drawing/2014/main" val="4180631639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87178456"/>
                    </a:ext>
                  </a:extLst>
                </a:gridCol>
                <a:gridCol w="1943249">
                  <a:extLst>
                    <a:ext uri="{9D8B030D-6E8A-4147-A177-3AD203B41FA5}">
                      <a16:colId xmlns:a16="http://schemas.microsoft.com/office/drawing/2014/main" val="358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Sudo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6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SDE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2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Core UI/Frontend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Core Navigation 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Core 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0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Frontend Backend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Alpha Build &amp; Upload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48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Fix Bugs &amp; Beta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268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/>
                        <a:t>Final Fixes &amp; Stable Version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0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76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9A66-DCF4-8FCF-DD96-1E2576E0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9302FE-3C85-8633-A3E0-99D248F643BC}"/>
              </a:ext>
            </a:extLst>
          </p:cNvPr>
          <p:cNvSpPr txBox="1"/>
          <p:nvPr/>
        </p:nvSpPr>
        <p:spPr>
          <a:xfrm>
            <a:off x="1331343" y="569343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>
                <a:latin typeface="Goudy Old Style"/>
              </a:rPr>
              <a:t>CPM Diagram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E19D50-04E2-FDEF-FFF6-061C63539752}"/>
              </a:ext>
            </a:extLst>
          </p:cNvPr>
          <p:cNvGraphicFramePr>
            <a:graphicFrameLocks noGrp="1"/>
          </p:cNvGraphicFramePr>
          <p:nvPr/>
        </p:nvGraphicFramePr>
        <p:xfrm>
          <a:off x="1168893" y="2419165"/>
          <a:ext cx="9865172" cy="333755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36188">
                  <a:extLst>
                    <a:ext uri="{9D8B030D-6E8A-4147-A177-3AD203B41FA5}">
                      <a16:colId xmlns:a16="http://schemas.microsoft.com/office/drawing/2014/main" val="2628111264"/>
                    </a:ext>
                  </a:extLst>
                </a:gridCol>
                <a:gridCol w="2113471">
                  <a:extLst>
                    <a:ext uri="{9D8B030D-6E8A-4147-A177-3AD203B41FA5}">
                      <a16:colId xmlns:a16="http://schemas.microsoft.com/office/drawing/2014/main" val="4180631639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87178456"/>
                    </a:ext>
                  </a:extLst>
                </a:gridCol>
                <a:gridCol w="1943249">
                  <a:extLst>
                    <a:ext uri="{9D8B030D-6E8A-4147-A177-3AD203B41FA5}">
                      <a16:colId xmlns:a16="http://schemas.microsoft.com/office/drawing/2014/main" val="358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Sudo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6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SDE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2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Core UI/Frontend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Core Navigation 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Core 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0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Frontend Backend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Alpha Build &amp; Upload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48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Fix Bugs &amp; Beta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268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/>
                        <a:t>Final Fixes &amp; Stable Version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0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29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FEFD-14A4-8B2F-EF78-C9FACE78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76D6E-8E8D-FDAC-D155-0DDE4E186C60}"/>
              </a:ext>
            </a:extLst>
          </p:cNvPr>
          <p:cNvSpPr txBox="1"/>
          <p:nvPr/>
        </p:nvSpPr>
        <p:spPr>
          <a:xfrm>
            <a:off x="684362" y="598098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Goudy Old Style"/>
              </a:rPr>
              <a:t>CPM Diagram with Critical Path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44730D37-9282-60ED-E21F-B451E647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7324"/>
            <a:ext cx="121920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4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DE84-931B-6F76-F53E-B0230E2F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71228F42-BC96-D307-BA9B-4C063AB0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6855010"/>
            <a:ext cx="12192000" cy="5899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9FC214-9150-65F8-84AE-535B9F60995C}"/>
              </a:ext>
            </a:extLst>
          </p:cNvPr>
          <p:cNvSpPr txBox="1"/>
          <p:nvPr/>
        </p:nvSpPr>
        <p:spPr>
          <a:xfrm>
            <a:off x="3044343" y="3011920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Goudy Old Style"/>
              </a:rPr>
              <a:t>Use Case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69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B878-DF60-C8E8-A473-8CE32607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0FFCFB21-852A-D0A9-AD38-60789626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156"/>
            <a:ext cx="12192000" cy="5899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138C3B-154A-9EC3-FC87-289AF5A432B9}"/>
              </a:ext>
            </a:extLst>
          </p:cNvPr>
          <p:cNvSpPr txBox="1"/>
          <p:nvPr/>
        </p:nvSpPr>
        <p:spPr>
          <a:xfrm>
            <a:off x="684362" y="555765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Goudy Old Style"/>
              </a:rPr>
              <a:t>Use Case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3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8FA7-87E3-4F88-EC07-E4DDEE5F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4854FE-6A36-0DEF-7E5E-120A227BF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2" t="8557" r="2541" b="11258"/>
          <a:stretch>
            <a:fillRect/>
          </a:stretch>
        </p:blipFill>
        <p:spPr>
          <a:xfrm>
            <a:off x="12192257" y="6858000"/>
            <a:ext cx="12236231" cy="5985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57123-16D9-FEBC-665E-098A24C00B2D}"/>
              </a:ext>
            </a:extLst>
          </p:cNvPr>
          <p:cNvSpPr txBox="1"/>
          <p:nvPr/>
        </p:nvSpPr>
        <p:spPr>
          <a:xfrm>
            <a:off x="3975779" y="3011099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Goudy Old Style"/>
              </a:rPr>
              <a:t>Class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9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694C-D07C-C366-0C2C-82E82F44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58A11E-6B5D-4D81-DD4F-E7CA5346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2" t="8557" r="2541" b="11258"/>
          <a:stretch>
            <a:fillRect/>
          </a:stretch>
        </p:blipFill>
        <p:spPr>
          <a:xfrm>
            <a:off x="-42076" y="973667"/>
            <a:ext cx="12236231" cy="5985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C10C57-CCB2-B064-104F-4A73CBD22F95}"/>
              </a:ext>
            </a:extLst>
          </p:cNvPr>
          <p:cNvSpPr txBox="1"/>
          <p:nvPr/>
        </p:nvSpPr>
        <p:spPr>
          <a:xfrm>
            <a:off x="673779" y="354682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Goudy Old Style"/>
              </a:rPr>
              <a:t>Class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63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A0F7C-85B4-F8A6-8889-57E5D52E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C5F281-15C2-1229-1997-948B2B33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ASSIGNMENT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81B4D6E-5F7F-E729-9E7A-F5199EAC84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3208744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8DBB8-9098-81BE-12D7-082AD1F8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978A03-BBA2-D657-84EA-704877B0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Requirement and Planning (Stakeholders &amp; Actors)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3039F-4289-B0F2-6114-94295F55B7A0}"/>
              </a:ext>
            </a:extLst>
          </p:cNvPr>
          <p:cNvSpPr txBox="1"/>
          <p:nvPr/>
        </p:nvSpPr>
        <p:spPr>
          <a:xfrm>
            <a:off x="1518649" y="2173217"/>
            <a:ext cx="1006657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Primary Users: </a:t>
            </a:r>
            <a:r>
              <a:rPr lang="en-US">
                <a:ea typeface="+mn-lt"/>
                <a:cs typeface="+mn-lt"/>
              </a:rPr>
              <a:t>Individual professionals, families, financial managers</a:t>
            </a:r>
            <a:endParaRPr lang="en-US"/>
          </a:p>
          <a:p>
            <a:pPr>
              <a:buFont typeface="Calibri"/>
              <a:buChar char="-"/>
            </a:pPr>
            <a:endParaRPr lang="en-US"/>
          </a:p>
          <a:p>
            <a:pPr marL="457200" indent="-457200">
              <a:buFont typeface="Calibri"/>
              <a:buChar char="-"/>
            </a:pPr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9F45D-1970-997C-8CD1-9CC84FCABECE}"/>
              </a:ext>
            </a:extLst>
          </p:cNvPr>
          <p:cNvSpPr txBox="1"/>
          <p:nvPr/>
        </p:nvSpPr>
        <p:spPr>
          <a:xfrm>
            <a:off x="1522882" y="2928868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Development Team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A311A-FD28-9001-51D4-5596E1767E15}"/>
              </a:ext>
            </a:extLst>
          </p:cNvPr>
          <p:cNvSpPr txBox="1"/>
          <p:nvPr/>
        </p:nvSpPr>
        <p:spPr>
          <a:xfrm>
            <a:off x="1527115" y="3673934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Technical Partners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C0A36-12DC-6A27-55DB-A4A7229DAFF2}"/>
              </a:ext>
            </a:extLst>
          </p:cNvPr>
          <p:cNvSpPr txBox="1"/>
          <p:nvPr/>
        </p:nvSpPr>
        <p:spPr>
          <a:xfrm>
            <a:off x="1520766" y="4419001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Beta Testers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46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4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E72D3-8948-A849-A233-927CE2ED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16EE8B-C0A4-B029-BBC6-C5602A78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Requirement and Planning (Resource Management)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F1F3A-5A32-64A5-7F42-983733ACA8CC}"/>
              </a:ext>
            </a:extLst>
          </p:cNvPr>
          <p:cNvSpPr txBox="1"/>
          <p:nvPr/>
        </p:nvSpPr>
        <p:spPr>
          <a:xfrm>
            <a:off x="1518649" y="2173217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Human Resources: </a:t>
            </a:r>
            <a:r>
              <a:rPr lang="en-US">
                <a:ea typeface="+mn-lt"/>
                <a:cs typeface="+mn-lt"/>
              </a:rPr>
              <a:t>Solo Developer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A3202-7B6B-2AA8-9E99-4B1859041855}"/>
              </a:ext>
            </a:extLst>
          </p:cNvPr>
          <p:cNvSpPr txBox="1"/>
          <p:nvPr/>
        </p:nvSpPr>
        <p:spPr>
          <a:xfrm>
            <a:off x="1522882" y="2928868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Technical Resources: </a:t>
            </a:r>
            <a:r>
              <a:rPr lang="en-US">
                <a:ea typeface="+mn-lt"/>
                <a:cs typeface="+mn-lt"/>
              </a:rPr>
              <a:t>VS Code, React-Native, </a:t>
            </a:r>
            <a:r>
              <a:rPr lang="en-US" err="1">
                <a:ea typeface="+mn-lt"/>
                <a:cs typeface="+mn-lt"/>
              </a:rPr>
              <a:t>Supabase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Github</a:t>
            </a:r>
            <a:endParaRPr lang="en-US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3ED9A-5B36-89DF-5C33-DE2218DF2B4F}"/>
              </a:ext>
            </a:extLst>
          </p:cNvPr>
          <p:cNvSpPr txBox="1"/>
          <p:nvPr/>
        </p:nvSpPr>
        <p:spPr>
          <a:xfrm>
            <a:off x="1527115" y="3673934"/>
            <a:ext cx="100739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Financial Resources: </a:t>
            </a:r>
            <a:r>
              <a:rPr lang="en-US">
                <a:ea typeface="+mn-lt"/>
                <a:cs typeface="+mn-lt"/>
              </a:rPr>
              <a:t>Self-funded</a:t>
            </a:r>
            <a:endParaRPr lang="en-US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921CD-C401-4A52-E0C5-6FE0B585AB82}"/>
              </a:ext>
            </a:extLst>
          </p:cNvPr>
          <p:cNvSpPr txBox="1"/>
          <p:nvPr/>
        </p:nvSpPr>
        <p:spPr>
          <a:xfrm>
            <a:off x="1520766" y="4419001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Timeline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04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4" grpId="0"/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9B26F-2FCC-1CD8-058D-9ECE0E2F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1F9356-B654-12E0-F6E1-DA5302BA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Requirement and Planning (Risk Management)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6E3EF-D016-DE76-AB03-433D742BE794}"/>
              </a:ext>
            </a:extLst>
          </p:cNvPr>
          <p:cNvSpPr txBox="1"/>
          <p:nvPr/>
        </p:nvSpPr>
        <p:spPr>
          <a:xfrm>
            <a:off x="1518649" y="2173217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Technical Risks: </a:t>
            </a:r>
            <a:r>
              <a:rPr lang="en-US">
                <a:ea typeface="+mn-lt"/>
                <a:cs typeface="+mn-lt"/>
              </a:rPr>
              <a:t>Performance on older devices, </a:t>
            </a:r>
            <a:r>
              <a:rPr lang="en-US" err="1">
                <a:ea typeface="+mn-lt"/>
                <a:cs typeface="+mn-lt"/>
              </a:rPr>
              <a:t>Supabase</a:t>
            </a:r>
            <a:r>
              <a:rPr lang="en-US">
                <a:ea typeface="+mn-lt"/>
                <a:cs typeface="+mn-lt"/>
              </a:rPr>
              <a:t> Scaling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151FA-CF5B-7C0B-0270-DE0495C43FA2}"/>
              </a:ext>
            </a:extLst>
          </p:cNvPr>
          <p:cNvSpPr txBox="1"/>
          <p:nvPr/>
        </p:nvSpPr>
        <p:spPr>
          <a:xfrm>
            <a:off x="1522882" y="2928868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Business Risks: </a:t>
            </a:r>
            <a:r>
              <a:rPr lang="en-US">
                <a:ea typeface="+mn-lt"/>
                <a:cs typeface="+mn-lt"/>
              </a:rPr>
              <a:t>Market Adoption &amp; Competition </a:t>
            </a:r>
            <a:endParaRPr lang="en-US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A98AA-1F89-E2DA-A711-F4E147038949}"/>
              </a:ext>
            </a:extLst>
          </p:cNvPr>
          <p:cNvSpPr txBox="1"/>
          <p:nvPr/>
        </p:nvSpPr>
        <p:spPr>
          <a:xfrm>
            <a:off x="1527115" y="3673934"/>
            <a:ext cx="100739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Development Risks: </a:t>
            </a:r>
            <a:r>
              <a:rPr lang="en-US">
                <a:ea typeface="+mn-lt"/>
                <a:cs typeface="+mn-lt"/>
              </a:rPr>
              <a:t>Solo development bandwidth and Future Scopes</a:t>
            </a:r>
            <a:endParaRPr lang="en-US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D6492-F451-E53F-F6A5-CB358E2586F9}"/>
              </a:ext>
            </a:extLst>
          </p:cNvPr>
          <p:cNvSpPr txBox="1"/>
          <p:nvPr/>
        </p:nvSpPr>
        <p:spPr>
          <a:xfrm>
            <a:off x="1520766" y="4419001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Mitigation: </a:t>
            </a:r>
            <a:r>
              <a:rPr lang="en-US">
                <a:ea typeface="+mn-lt"/>
                <a:cs typeface="+mn-lt"/>
              </a:rPr>
              <a:t>MVP Approach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8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4" grpId="0"/>
      <p:bldP spid="8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6CA6-884F-B0F5-0874-ECD06285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3E0F3-6B01-1754-5A6A-7D94F83F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Requirement and Planning (Quality Management)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B866C-19DC-F9D3-E76A-65F786193373}"/>
              </a:ext>
            </a:extLst>
          </p:cNvPr>
          <p:cNvSpPr txBox="1"/>
          <p:nvPr/>
        </p:nvSpPr>
        <p:spPr>
          <a:xfrm>
            <a:off x="1518649" y="2173217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Code Quality: </a:t>
            </a:r>
            <a:r>
              <a:rPr lang="en-US">
                <a:ea typeface="+mn-lt"/>
                <a:cs typeface="+mn-lt"/>
              </a:rPr>
              <a:t>Typescript, &amp; </a:t>
            </a:r>
            <a:r>
              <a:rPr lang="en-US" err="1">
                <a:ea typeface="+mn-lt"/>
                <a:cs typeface="+mn-lt"/>
              </a:rPr>
              <a:t>ESLint</a:t>
            </a:r>
            <a:r>
              <a:rPr lang="en-US">
                <a:ea typeface="+mn-lt"/>
                <a:cs typeface="+mn-lt"/>
              </a:rPr>
              <a:t> Standards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0D5B7-BA3C-C703-A366-DC6BF7BA496E}"/>
              </a:ext>
            </a:extLst>
          </p:cNvPr>
          <p:cNvSpPr txBox="1"/>
          <p:nvPr/>
        </p:nvSpPr>
        <p:spPr>
          <a:xfrm>
            <a:off x="1522882" y="2928868"/>
            <a:ext cx="10081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UX: </a:t>
            </a:r>
            <a:r>
              <a:rPr lang="en-US">
                <a:ea typeface="+mn-lt"/>
                <a:cs typeface="+mn-lt"/>
              </a:rPr>
              <a:t>Beta testing cycle, &amp; feedbacks</a:t>
            </a:r>
            <a:endParaRPr lang="en-US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2C9A2-E597-4BB3-047D-6557AB17FADC}"/>
              </a:ext>
            </a:extLst>
          </p:cNvPr>
          <p:cNvSpPr txBox="1"/>
          <p:nvPr/>
        </p:nvSpPr>
        <p:spPr>
          <a:xfrm>
            <a:off x="1527115" y="3673934"/>
            <a:ext cx="100739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Performance: </a:t>
            </a:r>
            <a:r>
              <a:rPr lang="en-US">
                <a:ea typeface="+mn-lt"/>
                <a:cs typeface="+mn-lt"/>
              </a:rPr>
              <a:t>React-Native/Expo Monitoring updates</a:t>
            </a:r>
            <a:endParaRPr lang="en-US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4585B-BCE5-6A12-C0F1-C314033AFA16}"/>
              </a:ext>
            </a:extLst>
          </p:cNvPr>
          <p:cNvSpPr txBox="1"/>
          <p:nvPr/>
        </p:nvSpPr>
        <p:spPr>
          <a:xfrm>
            <a:off x="1520766" y="4419001"/>
            <a:ext cx="8609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ea typeface="+mn-lt"/>
                <a:cs typeface="+mn-lt"/>
              </a:rPr>
              <a:t>Security: </a:t>
            </a:r>
            <a:r>
              <a:rPr lang="en-US"/>
              <a:t>Encrypted data with, Authentication &amp; </a:t>
            </a:r>
            <a:r>
              <a:rPr lang="en-US" err="1">
                <a:ea typeface="+mn-lt"/>
                <a:cs typeface="+mn-lt"/>
              </a:rPr>
              <a:t>Authorisations</a:t>
            </a:r>
            <a:r>
              <a:rPr lang="en-US">
                <a:ea typeface="+mn-lt"/>
                <a:cs typeface="+mn-lt"/>
              </a:rPr>
              <a:t> 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8101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4" grpId="0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B21B-38E9-D74D-D717-E731897D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EF1BE3-EE1F-F230-075D-853000D42AA7}"/>
              </a:ext>
            </a:extLst>
          </p:cNvPr>
          <p:cNvSpPr txBox="1"/>
          <p:nvPr/>
        </p:nvSpPr>
        <p:spPr>
          <a:xfrm>
            <a:off x="1370120" y="245615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>
                <a:latin typeface="Goudy Old Style"/>
              </a:rPr>
              <a:t>CPM Diagram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AD4DDF-B9D2-95A2-1E30-15E8B11A8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56840"/>
              </p:ext>
            </p:extLst>
          </p:nvPr>
        </p:nvGraphicFramePr>
        <p:xfrm>
          <a:off x="1198015" y="1108296"/>
          <a:ext cx="9865172" cy="544326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36188">
                  <a:extLst>
                    <a:ext uri="{9D8B030D-6E8A-4147-A177-3AD203B41FA5}">
                      <a16:colId xmlns:a16="http://schemas.microsoft.com/office/drawing/2014/main" val="2628111264"/>
                    </a:ext>
                  </a:extLst>
                </a:gridCol>
                <a:gridCol w="2113471">
                  <a:extLst>
                    <a:ext uri="{9D8B030D-6E8A-4147-A177-3AD203B41FA5}">
                      <a16:colId xmlns:a16="http://schemas.microsoft.com/office/drawing/2014/main" val="4180631639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87178456"/>
                    </a:ext>
                  </a:extLst>
                </a:gridCol>
                <a:gridCol w="1943249">
                  <a:extLst>
                    <a:ext uri="{9D8B030D-6E8A-4147-A177-3AD203B41FA5}">
                      <a16:colId xmlns:a16="http://schemas.microsoft.com/office/drawing/2014/main" val="3581257"/>
                    </a:ext>
                  </a:extLst>
                </a:gridCol>
              </a:tblGrid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App/Project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Features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Strengths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venir Next LT Pro"/>
                        </a:rPr>
                        <a:t>Limitations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067410"/>
                  </a:ext>
                </a:extLst>
              </a:tr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/>
                        <a:t>Pocket Money Manager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Budget alerts, offline use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Simple, offline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No analytics, limited export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822451"/>
                  </a:ext>
                </a:extLst>
              </a:tr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Avenir Next LT Pro"/>
                        </a:rPr>
                        <a:t>MyMoney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 Pro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Expense tracking, multi-category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Local support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Basic UX, poor analytics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4594915"/>
                  </a:ext>
                </a:extLst>
              </a:tr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/>
                        <a:t>Mint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Auto sync, budget, analytics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Rich features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Not local, card-based only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601847"/>
                  </a:ext>
                </a:extLst>
              </a:tr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Avenir Next LT Pro"/>
                        </a:rPr>
                        <a:t>PocketGuard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AI spend optimization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Personalized tips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No cultural adaptation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104757"/>
                  </a:ext>
                </a:extLst>
              </a:tr>
              <a:tr h="9057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Avenir Next LT Pro"/>
                        </a:rPr>
                        <a:t>Goodbudget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Manual envelopes, sync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User control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No bank integration, manual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97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097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E0F78-70EF-2BE5-DAA4-1EA92136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8EC8FF-067F-DBDC-67F9-8093433F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Project Demonstration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E7ECAD0-0192-45A1-D1CF-4CA4CF2EC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3947298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408" y="4594884"/>
            <a:ext cx="6255903" cy="883430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41585" y="826787"/>
            <a:ext cx="7659688" cy="33501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AutoNum type="arabicPeriod"/>
            </a:pPr>
            <a:r>
              <a:rPr lang="en-US">
                <a:ea typeface="+mn-lt"/>
                <a:cs typeface="+mn-lt"/>
              </a:rPr>
              <a:t>Detailed project planning and requirement gathering ensure the development of a reliable, culturally-sensitive finance management app.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Emphasis on risk management, quality assurance, and user-centered design supports timely delivery and high user satisfaction.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Finova aims to empower users in diverse cultural contexts to build healthier financial habits and achieve financial wellness.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30067" y="3219450"/>
            <a:ext cx="4128934" cy="12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 would love to answer any Questions.</a:t>
            </a:r>
            <a:endParaRPr lang="en-US" sz="2400">
              <a:solidFill>
                <a:srgbClr val="000000">
                  <a:alpha val="60000"/>
                </a:srgb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FB0B9-08B2-DC32-E3E3-FF62F9DBB387}"/>
              </a:ext>
            </a:extLst>
          </p:cNvPr>
          <p:cNvGrpSpPr/>
          <p:nvPr/>
        </p:nvGrpSpPr>
        <p:grpSpPr>
          <a:xfrm>
            <a:off x="7636389" y="5382011"/>
            <a:ext cx="3958724" cy="986308"/>
            <a:chOff x="7636389" y="5870841"/>
            <a:chExt cx="3958724" cy="986308"/>
          </a:xfrm>
        </p:grpSpPr>
        <p:pic>
          <p:nvPicPr>
            <p:cNvPr id="4" name="Picture 3" descr="Green letters on a black background&#10;&#10;Description automatically generated">
              <a:extLst>
                <a:ext uri="{FF2B5EF4-FFF2-40B4-BE49-F238E27FC236}">
                  <a16:creationId xmlns:a16="http://schemas.microsoft.com/office/drawing/2014/main" id="{497F471D-16CB-53D5-52A8-A6A83CF0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6389" y="5870841"/>
              <a:ext cx="2041586" cy="98630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2BAEF0B-A84C-B429-2CA8-D8FB5B05F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4207" y="6001108"/>
              <a:ext cx="660906" cy="707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a letter and an arrow&#10;&#10;AI-generated content may be incorrect.">
            <a:extLst>
              <a:ext uri="{FF2B5EF4-FFF2-40B4-BE49-F238E27FC236}">
                <a16:creationId xmlns:a16="http://schemas.microsoft.com/office/drawing/2014/main" id="{FF5E88F8-B6DA-C662-A433-30397237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533" y="0"/>
            <a:ext cx="3086100" cy="6858000"/>
          </a:xfrm>
          <a:prstGeom prst="rect">
            <a:avLst/>
          </a:prstGeom>
        </p:spPr>
      </p:pic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B53BAC05-9497-2499-7A7E-97F4E046D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71" y="-1850"/>
            <a:ext cx="3086100" cy="6858000"/>
          </a:xfrm>
          <a:prstGeom prst="rect">
            <a:avLst/>
          </a:prstGeom>
        </p:spPr>
      </p:pic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F35BE601-E509-701E-986E-846897440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6455" y="3699"/>
            <a:ext cx="3086100" cy="6858000"/>
          </a:xfrm>
          <a:prstGeom prst="rect">
            <a:avLst/>
          </a:prstGeom>
        </p:spPr>
      </p:pic>
      <p:pic>
        <p:nvPicPr>
          <p:cNvPr id="6" name="Picture 5" descr="A blue and green logo with an arrow&#10;&#10;AI-generated content may be incorrect.">
            <a:extLst>
              <a:ext uri="{FF2B5EF4-FFF2-40B4-BE49-F238E27FC236}">
                <a16:creationId xmlns:a16="http://schemas.microsoft.com/office/drawing/2014/main" id="{F232D706-0A03-8ECB-A07C-A1C57C54F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42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AE86-A2AB-8897-3868-1A759270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0FB9902-EB62-34E3-B07B-E26C3D52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4" y="1850"/>
            <a:ext cx="3086100" cy="6858000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0838E84-293C-4572-C8F6-E7963F9D8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129" y="0"/>
            <a:ext cx="3163373" cy="6858000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AEBCE753-4058-0ED8-3534-7849E0290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857" y="0"/>
            <a:ext cx="3163373" cy="6858000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F410889-1735-F20F-1B3E-BFE16B10A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639" y="-1850"/>
            <a:ext cx="3163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F4C3D-7DA1-8B30-F234-77C60B68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financial overview&#10;&#10;AI-generated content may be incorrect.">
            <a:extLst>
              <a:ext uri="{FF2B5EF4-FFF2-40B4-BE49-F238E27FC236}">
                <a16:creationId xmlns:a16="http://schemas.microsoft.com/office/drawing/2014/main" id="{D57B18A4-704D-CDB5-760A-E8FB49A50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" y="1744"/>
            <a:ext cx="3163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1011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86C09-F420-40AE-93AA-C368DCF73FE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32DBBDF-0415-4F4A-A72F-EB449088B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267E2-D0C1-458E-BA40-3B641CF83E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FrostyVTI</Template>
  <Application>Microsoft Office PowerPoint</Application>
  <PresentationFormat>Widescreen</PresentationFormat>
  <Slides>26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FrostyVTI</vt:lpstr>
      <vt:lpstr>Finova</vt:lpstr>
      <vt:lpstr>The Team</vt:lpstr>
      <vt:lpstr>Instructor</vt:lpstr>
      <vt:lpstr>Table of Contents</vt:lpstr>
      <vt:lpstr>Project Features/Functionalities</vt:lpstr>
      <vt:lpstr>Core Features</vt:lpstr>
      <vt:lpstr>LAB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</vt:lpstr>
      <vt:lpstr>Project Requirement and Planning (Stakeholders &amp; Actors)</vt:lpstr>
      <vt:lpstr>Project Requirement and Planning (Resource Management)</vt:lpstr>
      <vt:lpstr>Project Requirement and Planning (Risk Management)</vt:lpstr>
      <vt:lpstr>Project Requirement and Planning (Quality Management)</vt:lpstr>
      <vt:lpstr>PowerPoint Presentation</vt:lpstr>
      <vt:lpstr>Project Demonstration</vt:lpstr>
      <vt:lpstr>Conclusion</vt:lpstr>
      <vt:lpstr>Thank you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revision>45</cp:revision>
  <dcterms:created xsi:type="dcterms:W3CDTF">2024-05-29T13:44:45Z</dcterms:created>
  <dcterms:modified xsi:type="dcterms:W3CDTF">2025-08-30T20:36:39Z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